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7" r:id="rId11"/>
    <p:sldId id="266" r:id="rId12"/>
    <p:sldId id="268" r:id="rId13"/>
    <p:sldId id="269"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A152BE-964D-4870-887D-C4D05B453A48}" v="2" dt="2024-11-24T08:43:58.115"/>
    <p1510:client id="{F2425D68-2080-48F0-BACB-BA787774874C}" v="2" dt="2024-11-24T16:39:06.7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4660"/>
  </p:normalViewPr>
  <p:slideViewPr>
    <p:cSldViewPr snapToGrid="0">
      <p:cViewPr varScale="1">
        <p:scale>
          <a:sx n="91" d="100"/>
          <a:sy n="91" d="100"/>
        </p:scale>
        <p:origin x="7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OI HONG LUE IVAN" userId="72bacae2-7144-492d-abea-cc5791aaa9df" providerId="ADAL" clId="{F2425D68-2080-48F0-BACB-BA787774874C}"/>
    <pc:docChg chg="undo custSel modSld sldOrd">
      <pc:chgData name="OOI HONG LUE IVAN" userId="72bacae2-7144-492d-abea-cc5791aaa9df" providerId="ADAL" clId="{F2425D68-2080-48F0-BACB-BA787774874C}" dt="2024-11-25T08:31:11.207" v="62"/>
      <pc:docMkLst>
        <pc:docMk/>
      </pc:docMkLst>
      <pc:sldChg chg="addSp modSp mod setBg">
        <pc:chgData name="OOI HONG LUE IVAN" userId="72bacae2-7144-492d-abea-cc5791aaa9df" providerId="ADAL" clId="{F2425D68-2080-48F0-BACB-BA787774874C}" dt="2024-11-24T10:36:50.626" v="6" actId="26606"/>
        <pc:sldMkLst>
          <pc:docMk/>
          <pc:sldMk cId="3194977650" sldId="259"/>
        </pc:sldMkLst>
        <pc:spChg chg="mod">
          <ac:chgData name="OOI HONG LUE IVAN" userId="72bacae2-7144-492d-abea-cc5791aaa9df" providerId="ADAL" clId="{F2425D68-2080-48F0-BACB-BA787774874C}" dt="2024-11-24T10:36:50.626" v="6" actId="26606"/>
          <ac:spMkLst>
            <pc:docMk/>
            <pc:sldMk cId="3194977650" sldId="259"/>
            <ac:spMk id="2" creationId="{20A2C679-D14E-001B-817A-353D46FAE824}"/>
          </ac:spMkLst>
        </pc:spChg>
        <pc:spChg chg="mod">
          <ac:chgData name="OOI HONG LUE IVAN" userId="72bacae2-7144-492d-abea-cc5791aaa9df" providerId="ADAL" clId="{F2425D68-2080-48F0-BACB-BA787774874C}" dt="2024-11-24T10:36:50.626" v="6" actId="26606"/>
          <ac:spMkLst>
            <pc:docMk/>
            <pc:sldMk cId="3194977650" sldId="259"/>
            <ac:spMk id="3" creationId="{310A6F5B-B0EC-6F69-9995-2AB1D1FC2108}"/>
          </ac:spMkLst>
        </pc:spChg>
        <pc:spChg chg="add">
          <ac:chgData name="OOI HONG LUE IVAN" userId="72bacae2-7144-492d-abea-cc5791aaa9df" providerId="ADAL" clId="{F2425D68-2080-48F0-BACB-BA787774874C}" dt="2024-11-24T10:36:50.626" v="6" actId="26606"/>
          <ac:spMkLst>
            <pc:docMk/>
            <pc:sldMk cId="3194977650" sldId="259"/>
            <ac:spMk id="10" creationId="{81C8C0F4-5C44-4C3F-B321-5CB3E2BABC2C}"/>
          </ac:spMkLst>
        </pc:spChg>
        <pc:spChg chg="add">
          <ac:chgData name="OOI HONG LUE IVAN" userId="72bacae2-7144-492d-abea-cc5791aaa9df" providerId="ADAL" clId="{F2425D68-2080-48F0-BACB-BA787774874C}" dt="2024-11-24T10:36:50.626" v="6" actId="26606"/>
          <ac:spMkLst>
            <pc:docMk/>
            <pc:sldMk cId="3194977650" sldId="259"/>
            <ac:spMk id="17" creationId="{837F2C8F-CC11-4A18-AA7E-AE8C022CDCC8}"/>
          </ac:spMkLst>
        </pc:spChg>
        <pc:grpChg chg="add">
          <ac:chgData name="OOI HONG LUE IVAN" userId="72bacae2-7144-492d-abea-cc5791aaa9df" providerId="ADAL" clId="{F2425D68-2080-48F0-BACB-BA787774874C}" dt="2024-11-24T10:36:50.626" v="6" actId="26606"/>
          <ac:grpSpMkLst>
            <pc:docMk/>
            <pc:sldMk cId="3194977650" sldId="259"/>
            <ac:grpSpMk id="12" creationId="{987A62DB-71D7-497D-BE1C-933ECB515A68}"/>
          </ac:grpSpMkLst>
        </pc:grpChg>
        <pc:picChg chg="mod">
          <ac:chgData name="OOI HONG LUE IVAN" userId="72bacae2-7144-492d-abea-cc5791aaa9df" providerId="ADAL" clId="{F2425D68-2080-48F0-BACB-BA787774874C}" dt="2024-11-24T10:36:50.626" v="6" actId="26606"/>
          <ac:picMkLst>
            <pc:docMk/>
            <pc:sldMk cId="3194977650" sldId="259"/>
            <ac:picMk id="5" creationId="{7C19E27B-4540-A6F7-E6FF-D78C825190F3}"/>
          </ac:picMkLst>
        </pc:picChg>
      </pc:sldChg>
      <pc:sldChg chg="modSp mod">
        <pc:chgData name="OOI HONG LUE IVAN" userId="72bacae2-7144-492d-abea-cc5791aaa9df" providerId="ADAL" clId="{F2425D68-2080-48F0-BACB-BA787774874C}" dt="2024-11-24T10:19:06.550" v="5" actId="20577"/>
        <pc:sldMkLst>
          <pc:docMk/>
          <pc:sldMk cId="3159538790" sldId="260"/>
        </pc:sldMkLst>
        <pc:spChg chg="mod">
          <ac:chgData name="OOI HONG LUE IVAN" userId="72bacae2-7144-492d-abea-cc5791aaa9df" providerId="ADAL" clId="{F2425D68-2080-48F0-BACB-BA787774874C}" dt="2024-11-24T10:19:06.550" v="5" actId="20577"/>
          <ac:spMkLst>
            <pc:docMk/>
            <pc:sldMk cId="3159538790" sldId="260"/>
            <ac:spMk id="3" creationId="{5882E4C9-6EC2-638D-F21F-2EC2176230F0}"/>
          </ac:spMkLst>
        </pc:spChg>
      </pc:sldChg>
      <pc:sldChg chg="ord">
        <pc:chgData name="OOI HONG LUE IVAN" userId="72bacae2-7144-492d-abea-cc5791aaa9df" providerId="ADAL" clId="{F2425D68-2080-48F0-BACB-BA787774874C}" dt="2024-11-25T08:26:11.608" v="58"/>
        <pc:sldMkLst>
          <pc:docMk/>
          <pc:sldMk cId="1134311841" sldId="261"/>
        </pc:sldMkLst>
      </pc:sldChg>
      <pc:sldChg chg="modSp mod ord">
        <pc:chgData name="OOI HONG LUE IVAN" userId="72bacae2-7144-492d-abea-cc5791aaa9df" providerId="ADAL" clId="{F2425D68-2080-48F0-BACB-BA787774874C}" dt="2024-11-25T08:29:27.429" v="60"/>
        <pc:sldMkLst>
          <pc:docMk/>
          <pc:sldMk cId="3050795069" sldId="265"/>
        </pc:sldMkLst>
        <pc:spChg chg="mod">
          <ac:chgData name="OOI HONG LUE IVAN" userId="72bacae2-7144-492d-abea-cc5791aaa9df" providerId="ADAL" clId="{F2425D68-2080-48F0-BACB-BA787774874C}" dt="2024-11-24T12:25:06.874" v="47" actId="20577"/>
          <ac:spMkLst>
            <pc:docMk/>
            <pc:sldMk cId="3050795069" sldId="265"/>
            <ac:spMk id="3" creationId="{401311EB-6487-6C69-0D42-36416FEAB00E}"/>
          </ac:spMkLst>
        </pc:spChg>
      </pc:sldChg>
      <pc:sldChg chg="addSp delSp modSp mod">
        <pc:chgData name="OOI HONG LUE IVAN" userId="72bacae2-7144-492d-abea-cc5791aaa9df" providerId="ADAL" clId="{F2425D68-2080-48F0-BACB-BA787774874C}" dt="2024-11-24T16:39:07.648" v="56" actId="478"/>
        <pc:sldMkLst>
          <pc:docMk/>
          <pc:sldMk cId="4203323886" sldId="266"/>
        </pc:sldMkLst>
        <pc:spChg chg="ord">
          <ac:chgData name="OOI HONG LUE IVAN" userId="72bacae2-7144-492d-abea-cc5791aaa9df" providerId="ADAL" clId="{F2425D68-2080-48F0-BACB-BA787774874C}" dt="2024-11-24T16:39:06.255" v="53" actId="26606"/>
          <ac:spMkLst>
            <pc:docMk/>
            <pc:sldMk cId="4203323886" sldId="266"/>
            <ac:spMk id="3" creationId="{A0AF737D-6231-0A0A-B047-94C23FA0FEFF}"/>
          </ac:spMkLst>
        </pc:spChg>
        <pc:spChg chg="add del">
          <ac:chgData name="OOI HONG LUE IVAN" userId="72bacae2-7144-492d-abea-cc5791aaa9df" providerId="ADAL" clId="{F2425D68-2080-48F0-BACB-BA787774874C}" dt="2024-11-24T16:39:06.255" v="53" actId="26606"/>
          <ac:spMkLst>
            <pc:docMk/>
            <pc:sldMk cId="4203323886" sldId="266"/>
            <ac:spMk id="10" creationId="{7D2FD795-8DF5-44F0-8664-4D8F626DD85A}"/>
          </ac:spMkLst>
        </pc:spChg>
        <pc:spChg chg="add del">
          <ac:chgData name="OOI HONG LUE IVAN" userId="72bacae2-7144-492d-abea-cc5791aaa9df" providerId="ADAL" clId="{F2425D68-2080-48F0-BACB-BA787774874C}" dt="2024-11-24T16:39:06.255" v="53" actId="26606"/>
          <ac:spMkLst>
            <pc:docMk/>
            <pc:sldMk cId="4203323886" sldId="266"/>
            <ac:spMk id="24" creationId="{9D8267F7-1115-4F9A-BEF5-BB6664BCF0DB}"/>
          </ac:spMkLst>
        </pc:spChg>
        <pc:spChg chg="add del">
          <ac:chgData name="OOI HONG LUE IVAN" userId="72bacae2-7144-492d-abea-cc5791aaa9df" providerId="ADAL" clId="{F2425D68-2080-48F0-BACB-BA787774874C}" dt="2024-11-24T16:39:06.255" v="53" actId="26606"/>
          <ac:spMkLst>
            <pc:docMk/>
            <pc:sldMk cId="4203323886" sldId="266"/>
            <ac:spMk id="29" creationId="{7D2FD795-8DF5-44F0-8664-4D8F626DD85A}"/>
          </ac:spMkLst>
        </pc:spChg>
        <pc:spChg chg="add del">
          <ac:chgData name="OOI HONG LUE IVAN" userId="72bacae2-7144-492d-abea-cc5791aaa9df" providerId="ADAL" clId="{F2425D68-2080-48F0-BACB-BA787774874C}" dt="2024-11-24T16:39:06.255" v="53" actId="26606"/>
          <ac:spMkLst>
            <pc:docMk/>
            <pc:sldMk cId="4203323886" sldId="266"/>
            <ac:spMk id="43" creationId="{9D8267F7-1115-4F9A-BEF5-BB6664BCF0DB}"/>
          </ac:spMkLst>
        </pc:spChg>
        <pc:grpChg chg="add del">
          <ac:chgData name="OOI HONG LUE IVAN" userId="72bacae2-7144-492d-abea-cc5791aaa9df" providerId="ADAL" clId="{F2425D68-2080-48F0-BACB-BA787774874C}" dt="2024-11-24T16:39:06.255" v="53" actId="26606"/>
          <ac:grpSpMkLst>
            <pc:docMk/>
            <pc:sldMk cId="4203323886" sldId="266"/>
            <ac:grpSpMk id="12" creationId="{7C6B683D-13FA-4605-8648-01FC9C82FEC8}"/>
          </ac:grpSpMkLst>
        </pc:grpChg>
        <pc:grpChg chg="add del">
          <ac:chgData name="OOI HONG LUE IVAN" userId="72bacae2-7144-492d-abea-cc5791aaa9df" providerId="ADAL" clId="{F2425D68-2080-48F0-BACB-BA787774874C}" dt="2024-11-24T16:39:06.255" v="53" actId="26606"/>
          <ac:grpSpMkLst>
            <pc:docMk/>
            <pc:sldMk cId="4203323886" sldId="266"/>
            <ac:grpSpMk id="31" creationId="{7C6B683D-13FA-4605-8648-01FC9C82FEC8}"/>
          </ac:grpSpMkLst>
        </pc:grpChg>
        <pc:picChg chg="add del">
          <ac:chgData name="OOI HONG LUE IVAN" userId="72bacae2-7144-492d-abea-cc5791aaa9df" providerId="ADAL" clId="{F2425D68-2080-48F0-BACB-BA787774874C}" dt="2024-11-24T16:39:07.648" v="56" actId="478"/>
          <ac:picMkLst>
            <pc:docMk/>
            <pc:sldMk cId="4203323886" sldId="266"/>
            <ac:picMk id="5" creationId="{5147B386-C134-8967-698B-4B6C56FEC653}"/>
          </ac:picMkLst>
        </pc:picChg>
        <pc:picChg chg="add mod">
          <ac:chgData name="OOI HONG LUE IVAN" userId="72bacae2-7144-492d-abea-cc5791aaa9df" providerId="ADAL" clId="{F2425D68-2080-48F0-BACB-BA787774874C}" dt="2024-11-24T16:39:06.796" v="55" actId="931"/>
          <ac:picMkLst>
            <pc:docMk/>
            <pc:sldMk cId="4203323886" sldId="266"/>
            <ac:picMk id="6" creationId="{A113D50B-7189-7422-A783-E6CB111CBDA3}"/>
          </ac:picMkLst>
        </pc:picChg>
      </pc:sldChg>
      <pc:sldChg chg="ord">
        <pc:chgData name="OOI HONG LUE IVAN" userId="72bacae2-7144-492d-abea-cc5791aaa9df" providerId="ADAL" clId="{F2425D68-2080-48F0-BACB-BA787774874C}" dt="2024-11-25T08:31:11.207" v="62"/>
        <pc:sldMkLst>
          <pc:docMk/>
          <pc:sldMk cId="2298930231"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FAD63D-416D-422C-A857-FF9D299BA43C}" type="datetimeFigureOut">
              <a:rPr lang="en-SG" smtClean="0"/>
              <a:t>25/11/2024</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B39C6C-B41C-4174-9013-446DCD3EA678}" type="slidenum">
              <a:rPr lang="en-SG" smtClean="0"/>
              <a:t>‹#›</a:t>
            </a:fld>
            <a:endParaRPr lang="en-SG"/>
          </a:p>
        </p:txBody>
      </p:sp>
    </p:spTree>
    <p:extLst>
      <p:ext uri="{BB962C8B-B14F-4D97-AF65-F5344CB8AC3E}">
        <p14:creationId xmlns:p14="http://schemas.microsoft.com/office/powerpoint/2010/main" val="2912269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80B39C6C-B41C-4174-9013-446DCD3EA678}" type="slidenum">
              <a:rPr lang="en-SG" smtClean="0"/>
              <a:t>1</a:t>
            </a:fld>
            <a:endParaRPr lang="en-SG"/>
          </a:p>
        </p:txBody>
      </p:sp>
    </p:spTree>
    <p:extLst>
      <p:ext uri="{BB962C8B-B14F-4D97-AF65-F5344CB8AC3E}">
        <p14:creationId xmlns:p14="http://schemas.microsoft.com/office/powerpoint/2010/main" val="3450178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0428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28421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11/25/2024</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197004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393960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313212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55008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965489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759807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378969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344722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11/25/2024</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742947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11/25/2024</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2282429762"/>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B9B5A19-3592-48E2-BC31-90E092BD6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E2548C40-4C00-4E91-BFA6-84B4D66225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2" name="Rectangle 11">
              <a:extLst>
                <a:ext uri="{FF2B5EF4-FFF2-40B4-BE49-F238E27FC236}">
                  <a16:creationId xmlns:a16="http://schemas.microsoft.com/office/drawing/2014/main" id="{B6EE6BCA-C84E-4BED-B084-F599F7EE68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4695526-4BAA-4EFE-91C1-1E446117C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0DF9B86-7987-40DC-85D6-479F5A2E87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A5465368-1AF5-43D6-BAD2-6BE8B04D94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0" name="Rectangle 19">
                <a:extLst>
                  <a:ext uri="{FF2B5EF4-FFF2-40B4-BE49-F238E27FC236}">
                    <a16:creationId xmlns:a16="http://schemas.microsoft.com/office/drawing/2014/main" id="{CEB28D27-BDED-4D8C-94FC-58E93235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7AC833D-449C-45F4-9851-216F3681F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09528AAE-A1EB-446C-81BE-BA5E4490E4E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8" name="Rectangle 17">
                <a:extLst>
                  <a:ext uri="{FF2B5EF4-FFF2-40B4-BE49-F238E27FC236}">
                    <a16:creationId xmlns:a16="http://schemas.microsoft.com/office/drawing/2014/main" id="{9F7C0F2C-B581-402B-B4C4-6DFB71314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56A6B0D-707F-420B-BF4D-2CB60CCCA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F8B7A59E-D61A-4BEB-A38A-1E8E5EBB83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DD99E1B6-CBC4-4306-9DFC-847D6D135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37000">
                <a:schemeClr val="bg2">
                  <a:alpha val="4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2C6124F9-9DB2-3FE3-29A9-285B806176C4}"/>
              </a:ext>
            </a:extLst>
          </p:cNvPr>
          <p:cNvSpPr>
            <a:spLocks noGrp="1"/>
          </p:cNvSpPr>
          <p:nvPr>
            <p:ph type="ctrTitle"/>
          </p:nvPr>
        </p:nvSpPr>
        <p:spPr>
          <a:xfrm>
            <a:off x="540000" y="540000"/>
            <a:ext cx="4500561" cy="4259814"/>
          </a:xfrm>
        </p:spPr>
        <p:txBody>
          <a:bodyPr>
            <a:normAutofit/>
          </a:bodyPr>
          <a:lstStyle/>
          <a:p>
            <a:r>
              <a:rPr lang="en-SG" dirty="0"/>
              <a:t>AIML CA1</a:t>
            </a:r>
          </a:p>
        </p:txBody>
      </p:sp>
      <p:sp>
        <p:nvSpPr>
          <p:cNvPr id="3" name="Subtitle 2">
            <a:extLst>
              <a:ext uri="{FF2B5EF4-FFF2-40B4-BE49-F238E27FC236}">
                <a16:creationId xmlns:a16="http://schemas.microsoft.com/office/drawing/2014/main" id="{97C2AB3F-62C9-974A-719B-84FF912DCBEB}"/>
              </a:ext>
            </a:extLst>
          </p:cNvPr>
          <p:cNvSpPr>
            <a:spLocks noGrp="1"/>
          </p:cNvSpPr>
          <p:nvPr>
            <p:ph type="subTitle" idx="1"/>
          </p:nvPr>
        </p:nvSpPr>
        <p:spPr>
          <a:xfrm>
            <a:off x="540000" y="4988476"/>
            <a:ext cx="4500561" cy="1320249"/>
          </a:xfrm>
        </p:spPr>
        <p:txBody>
          <a:bodyPr>
            <a:normAutofit/>
          </a:bodyPr>
          <a:lstStyle/>
          <a:p>
            <a:r>
              <a:rPr lang="en-US" dirty="0"/>
              <a:t>PART A: Predicting Factory Machine Status</a:t>
            </a:r>
            <a:endParaRPr lang="en-SG" dirty="0"/>
          </a:p>
        </p:txBody>
      </p:sp>
      <p:grpSp>
        <p:nvGrpSpPr>
          <p:cNvPr id="25" name="Group 24">
            <a:extLst>
              <a:ext uri="{FF2B5EF4-FFF2-40B4-BE49-F238E27FC236}">
                <a16:creationId xmlns:a16="http://schemas.microsoft.com/office/drawing/2014/main" id="{3C16EB93-E299-481D-A004-769603D375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37600" y="3600"/>
            <a:ext cx="6854400" cy="6854400"/>
            <a:chOff x="0" y="3600"/>
            <a:chExt cx="6854400" cy="6854400"/>
          </a:xfrm>
        </p:grpSpPr>
        <p:sp>
          <p:nvSpPr>
            <p:cNvPr id="26" name="Oval 25">
              <a:extLst>
                <a:ext uri="{FF2B5EF4-FFF2-40B4-BE49-F238E27FC236}">
                  <a16:creationId xmlns:a16="http://schemas.microsoft.com/office/drawing/2014/main" id="{6CD13B55-E709-4E18-924B-655433A928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36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A3B2E1D-0135-45FF-990A-436697D2071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199202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2BD9E0F-507C-49AD-B619-B42B4D342D6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descr="A blue and white triangle pattern&#10;&#10;Description automatically generated">
            <a:extLst>
              <a:ext uri="{FF2B5EF4-FFF2-40B4-BE49-F238E27FC236}">
                <a16:creationId xmlns:a16="http://schemas.microsoft.com/office/drawing/2014/main" id="{AF0E516F-9267-7632-5334-62D5CCDFFFF3}"/>
              </a:ext>
            </a:extLst>
          </p:cNvPr>
          <p:cNvPicPr>
            <a:picLocks noChangeAspect="1"/>
          </p:cNvPicPr>
          <p:nvPr/>
        </p:nvPicPr>
        <p:blipFill>
          <a:blip r:embed="rId3"/>
          <a:srcRect r="33249" b="-2"/>
          <a:stretch/>
        </p:blipFill>
        <p:spPr>
          <a:xfrm>
            <a:off x="4896763" y="-1"/>
            <a:ext cx="685800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Tree>
    <p:extLst>
      <p:ext uri="{BB962C8B-B14F-4D97-AF65-F5344CB8AC3E}">
        <p14:creationId xmlns:p14="http://schemas.microsoft.com/office/powerpoint/2010/main" val="163833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5" name="Rectangle 14">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9" name="Rectangle 8">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1" name="Rectangle 10">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014CF955-6C3E-9C62-27F6-5553407DCCFF}"/>
              </a:ext>
            </a:extLst>
          </p:cNvPr>
          <p:cNvSpPr>
            <a:spLocks noGrp="1"/>
          </p:cNvSpPr>
          <p:nvPr>
            <p:ph type="title"/>
          </p:nvPr>
        </p:nvSpPr>
        <p:spPr>
          <a:xfrm>
            <a:off x="540000" y="540000"/>
            <a:ext cx="4500561" cy="1953501"/>
          </a:xfrm>
        </p:spPr>
        <p:txBody>
          <a:bodyPr anchor="t">
            <a:normAutofit/>
          </a:bodyPr>
          <a:lstStyle/>
          <a:p>
            <a:r>
              <a:rPr lang="en-SG" dirty="0"/>
              <a:t>Data Exploration</a:t>
            </a:r>
          </a:p>
        </p:txBody>
      </p:sp>
      <p:sp>
        <p:nvSpPr>
          <p:cNvPr id="3" name="Content Placeholder 2">
            <a:extLst>
              <a:ext uri="{FF2B5EF4-FFF2-40B4-BE49-F238E27FC236}">
                <a16:creationId xmlns:a16="http://schemas.microsoft.com/office/drawing/2014/main" id="{F136673F-B38B-20A1-C33A-69AA419011FE}"/>
              </a:ext>
            </a:extLst>
          </p:cNvPr>
          <p:cNvSpPr>
            <a:spLocks noGrp="1"/>
          </p:cNvSpPr>
          <p:nvPr>
            <p:ph idx="1"/>
          </p:nvPr>
        </p:nvSpPr>
        <p:spPr>
          <a:xfrm>
            <a:off x="5232400" y="540000"/>
            <a:ext cx="6408738" cy="1998000"/>
          </a:xfrm>
        </p:spPr>
        <p:txBody>
          <a:bodyPr anchor="t">
            <a:normAutofit/>
          </a:bodyPr>
          <a:lstStyle/>
          <a:p>
            <a:pPr marL="0" indent="0">
              <a:buNone/>
            </a:pPr>
            <a:r>
              <a:rPr lang="en-SG" dirty="0"/>
              <a:t>After loading the data, I did </a:t>
            </a:r>
            <a:r>
              <a:rPr lang="en-SG" dirty="0" err="1"/>
              <a:t>df.head</a:t>
            </a:r>
            <a:r>
              <a:rPr lang="en-SG" dirty="0"/>
              <a:t>() to see what the first few rows of values look like. Quality is categorical and the rest of the data besides Unique ID and Product ID as they are irrelevant, are numeric values</a:t>
            </a:r>
          </a:p>
        </p:txBody>
      </p:sp>
      <p:pic>
        <p:nvPicPr>
          <p:cNvPr id="7" name="Picture 6" descr="A screenshot of a computer&#10;&#10;Description automatically generated">
            <a:extLst>
              <a:ext uri="{FF2B5EF4-FFF2-40B4-BE49-F238E27FC236}">
                <a16:creationId xmlns:a16="http://schemas.microsoft.com/office/drawing/2014/main" id="{A753D3A9-648C-3D64-0FFF-0645B158CAC6}"/>
              </a:ext>
            </a:extLst>
          </p:cNvPr>
          <p:cNvPicPr>
            <a:picLocks noChangeAspect="1"/>
          </p:cNvPicPr>
          <p:nvPr/>
        </p:nvPicPr>
        <p:blipFill>
          <a:blip r:embed="rId2">
            <a:alphaModFix/>
            <a:extLst>
              <a:ext uri="{28A0092B-C50C-407E-A947-70E740481C1C}">
                <a14:useLocalDpi xmlns:a14="http://schemas.microsoft.com/office/drawing/2010/main" val="0"/>
              </a:ext>
            </a:extLst>
          </a:blip>
          <a:srcRect r="20560"/>
          <a:stretch/>
        </p:blipFill>
        <p:spPr>
          <a:xfrm>
            <a:off x="540000" y="3004958"/>
            <a:ext cx="11101135" cy="3179139"/>
          </a:xfrm>
          <a:prstGeom prst="rect">
            <a:avLst/>
          </a:prstGeom>
        </p:spPr>
      </p:pic>
    </p:spTree>
    <p:extLst>
      <p:ext uri="{BB962C8B-B14F-4D97-AF65-F5344CB8AC3E}">
        <p14:creationId xmlns:p14="http://schemas.microsoft.com/office/powerpoint/2010/main" val="4107910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C8C0F4-5C44-4C3F-B321-5CB3E2BAB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87A62DB-71D7-497D-BE1C-933ECB515A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13" name="Oval 12">
              <a:extLst>
                <a:ext uri="{FF2B5EF4-FFF2-40B4-BE49-F238E27FC236}">
                  <a16:creationId xmlns:a16="http://schemas.microsoft.com/office/drawing/2014/main" id="{FDAC2767-A7E3-4697-90F6-443A583140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23E396-A746-411A-8709-32ABC4DDEA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35C986-CB82-4211-A910-D232B9BCA1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7" name="Freeform: Shape 16">
            <a:extLst>
              <a:ext uri="{FF2B5EF4-FFF2-40B4-BE49-F238E27FC236}">
                <a16:creationId xmlns:a16="http://schemas.microsoft.com/office/drawing/2014/main" id="{837F2C8F-CC11-4A18-AA7E-AE8C022CD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6000" y="1"/>
            <a:ext cx="6858000" cy="6857999"/>
          </a:xfrm>
          <a:custGeom>
            <a:avLst/>
            <a:gdLst>
              <a:gd name="connsiteX0" fmla="*/ 3428961 w 6858000"/>
              <a:gd name="connsiteY0" fmla="*/ 0 h 6857999"/>
              <a:gd name="connsiteX1" fmla="*/ 3429042 w 6858000"/>
              <a:gd name="connsiteY1" fmla="*/ 0 h 6857999"/>
              <a:gd name="connsiteX2" fmla="*/ 3605457 w 6858000"/>
              <a:gd name="connsiteY2" fmla="*/ 4461 h 6857999"/>
              <a:gd name="connsiteX3" fmla="*/ 6858000 w 6858000"/>
              <a:gd name="connsiteY3" fmla="*/ 3429000 h 6857999"/>
              <a:gd name="connsiteX4" fmla="*/ 3429001 w 6858000"/>
              <a:gd name="connsiteY4" fmla="*/ 6857999 h 6857999"/>
              <a:gd name="connsiteX5" fmla="*/ 0 w 6858000"/>
              <a:gd name="connsiteY5" fmla="*/ 3429000 h 6857999"/>
              <a:gd name="connsiteX6" fmla="*/ 3252545 w 6858000"/>
              <a:gd name="connsiteY6" fmla="*/ 44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7999">
                <a:moveTo>
                  <a:pt x="3428961" y="0"/>
                </a:moveTo>
                <a:lnTo>
                  <a:pt x="3429042" y="0"/>
                </a:lnTo>
                <a:lnTo>
                  <a:pt x="3605457" y="4461"/>
                </a:lnTo>
                <a:cubicBezTo>
                  <a:pt x="5417236" y="96300"/>
                  <a:pt x="6858000" y="1594396"/>
                  <a:pt x="6858000" y="3429000"/>
                </a:cubicBezTo>
                <a:cubicBezTo>
                  <a:pt x="6858000" y="5322784"/>
                  <a:pt x="5322784" y="6857999"/>
                  <a:pt x="3429001" y="6857999"/>
                </a:cubicBezTo>
                <a:cubicBezTo>
                  <a:pt x="1535216" y="6857999"/>
                  <a:pt x="0" y="5322784"/>
                  <a:pt x="0" y="3429000"/>
                </a:cubicBezTo>
                <a:cubicBezTo>
                  <a:pt x="0" y="1594396"/>
                  <a:pt x="1440765" y="96300"/>
                  <a:pt x="3252545" y="4461"/>
                </a:cubicBezTo>
                <a:close/>
              </a:path>
            </a:pathLst>
          </a:custGeom>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0A2C679-D14E-001B-817A-353D46FAE824}"/>
              </a:ext>
            </a:extLst>
          </p:cNvPr>
          <p:cNvSpPr>
            <a:spLocks noGrp="1"/>
          </p:cNvSpPr>
          <p:nvPr>
            <p:ph type="title"/>
          </p:nvPr>
        </p:nvSpPr>
        <p:spPr>
          <a:xfrm>
            <a:off x="540000" y="540000"/>
            <a:ext cx="4500561" cy="2181946"/>
          </a:xfrm>
        </p:spPr>
        <p:txBody>
          <a:bodyPr anchor="t">
            <a:normAutofit/>
          </a:bodyPr>
          <a:lstStyle/>
          <a:p>
            <a:r>
              <a:rPr lang="en-SG" dirty="0"/>
              <a:t>Data Exploration</a:t>
            </a:r>
          </a:p>
        </p:txBody>
      </p:sp>
      <p:sp>
        <p:nvSpPr>
          <p:cNvPr id="3" name="Content Placeholder 2">
            <a:extLst>
              <a:ext uri="{FF2B5EF4-FFF2-40B4-BE49-F238E27FC236}">
                <a16:creationId xmlns:a16="http://schemas.microsoft.com/office/drawing/2014/main" id="{310A6F5B-B0EC-6F69-9995-2AB1D1FC2108}"/>
              </a:ext>
            </a:extLst>
          </p:cNvPr>
          <p:cNvSpPr>
            <a:spLocks noGrp="1"/>
          </p:cNvSpPr>
          <p:nvPr>
            <p:ph idx="1"/>
          </p:nvPr>
        </p:nvSpPr>
        <p:spPr>
          <a:xfrm>
            <a:off x="550863" y="2947121"/>
            <a:ext cx="4500562" cy="3361604"/>
          </a:xfrm>
        </p:spPr>
        <p:txBody>
          <a:bodyPr anchor="t">
            <a:normAutofit/>
          </a:bodyPr>
          <a:lstStyle/>
          <a:p>
            <a:pPr marL="0" indent="0">
              <a:buNone/>
            </a:pPr>
            <a:r>
              <a:rPr lang="en-SG"/>
              <a:t>Next, I checked the data type of the target variable, Machine Status and the distribution of the values. Using </a:t>
            </a:r>
            <a:r>
              <a:rPr lang="en-US"/>
              <a:t>df['Machine Status'].value_counts(), we can see that the target is a binary value </a:t>
            </a:r>
            <a:r>
              <a:rPr lang="en-US" i="0">
                <a:effectLst/>
              </a:rPr>
              <a:t>where 0 is normal and 1 is abnormal. Since the data is discrete, this will be a classification task.</a:t>
            </a:r>
          </a:p>
          <a:p>
            <a:endParaRPr lang="en-SG" dirty="0"/>
          </a:p>
        </p:txBody>
      </p:sp>
      <p:pic>
        <p:nvPicPr>
          <p:cNvPr id="5" name="Picture 4" descr="A screen shot of a computer&#10;&#10;Description automatically generated">
            <a:extLst>
              <a:ext uri="{FF2B5EF4-FFF2-40B4-BE49-F238E27FC236}">
                <a16:creationId xmlns:a16="http://schemas.microsoft.com/office/drawing/2014/main" id="{7C19E27B-4540-A6F7-E6FF-D78C825190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000" y="2766447"/>
            <a:ext cx="3600000" cy="1325106"/>
          </a:xfrm>
          <a:prstGeom prst="rect">
            <a:avLst/>
          </a:prstGeom>
        </p:spPr>
      </p:pic>
    </p:spTree>
    <p:extLst>
      <p:ext uri="{BB962C8B-B14F-4D97-AF65-F5344CB8AC3E}">
        <p14:creationId xmlns:p14="http://schemas.microsoft.com/office/powerpoint/2010/main" val="3194977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C8C0F4-5C44-4C3F-B321-5CB3E2BAB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87A62DB-71D7-497D-BE1C-933ECB515A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13" name="Oval 12">
              <a:extLst>
                <a:ext uri="{FF2B5EF4-FFF2-40B4-BE49-F238E27FC236}">
                  <a16:creationId xmlns:a16="http://schemas.microsoft.com/office/drawing/2014/main" id="{FDAC2767-A7E3-4697-90F6-443A583140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23E396-A746-411A-8709-32ABC4DDEA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35C986-CB82-4211-A910-D232B9BCA1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7" name="Freeform: Shape 16">
            <a:extLst>
              <a:ext uri="{FF2B5EF4-FFF2-40B4-BE49-F238E27FC236}">
                <a16:creationId xmlns:a16="http://schemas.microsoft.com/office/drawing/2014/main" id="{837F2C8F-CC11-4A18-AA7E-AE8C022CD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6000" y="1"/>
            <a:ext cx="6858000" cy="6857999"/>
          </a:xfrm>
          <a:custGeom>
            <a:avLst/>
            <a:gdLst>
              <a:gd name="connsiteX0" fmla="*/ 3428961 w 6858000"/>
              <a:gd name="connsiteY0" fmla="*/ 0 h 6857999"/>
              <a:gd name="connsiteX1" fmla="*/ 3429042 w 6858000"/>
              <a:gd name="connsiteY1" fmla="*/ 0 h 6857999"/>
              <a:gd name="connsiteX2" fmla="*/ 3605457 w 6858000"/>
              <a:gd name="connsiteY2" fmla="*/ 4461 h 6857999"/>
              <a:gd name="connsiteX3" fmla="*/ 6858000 w 6858000"/>
              <a:gd name="connsiteY3" fmla="*/ 3429000 h 6857999"/>
              <a:gd name="connsiteX4" fmla="*/ 3429001 w 6858000"/>
              <a:gd name="connsiteY4" fmla="*/ 6857999 h 6857999"/>
              <a:gd name="connsiteX5" fmla="*/ 0 w 6858000"/>
              <a:gd name="connsiteY5" fmla="*/ 3429000 h 6857999"/>
              <a:gd name="connsiteX6" fmla="*/ 3252545 w 6858000"/>
              <a:gd name="connsiteY6" fmla="*/ 44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7999">
                <a:moveTo>
                  <a:pt x="3428961" y="0"/>
                </a:moveTo>
                <a:lnTo>
                  <a:pt x="3429042" y="0"/>
                </a:lnTo>
                <a:lnTo>
                  <a:pt x="3605457" y="4461"/>
                </a:lnTo>
                <a:cubicBezTo>
                  <a:pt x="5417236" y="96300"/>
                  <a:pt x="6858000" y="1594396"/>
                  <a:pt x="6858000" y="3429000"/>
                </a:cubicBezTo>
                <a:cubicBezTo>
                  <a:pt x="6858000" y="5322784"/>
                  <a:pt x="5322784" y="6857999"/>
                  <a:pt x="3429001" y="6857999"/>
                </a:cubicBezTo>
                <a:cubicBezTo>
                  <a:pt x="1535216" y="6857999"/>
                  <a:pt x="0" y="5322784"/>
                  <a:pt x="0" y="3429000"/>
                </a:cubicBezTo>
                <a:cubicBezTo>
                  <a:pt x="0" y="1594396"/>
                  <a:pt x="1440765" y="96300"/>
                  <a:pt x="3252545" y="4461"/>
                </a:cubicBezTo>
                <a:close/>
              </a:path>
            </a:pathLst>
          </a:custGeom>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F8AA470-3B9F-A0F5-7661-7CB5300D685A}"/>
              </a:ext>
            </a:extLst>
          </p:cNvPr>
          <p:cNvSpPr>
            <a:spLocks noGrp="1"/>
          </p:cNvSpPr>
          <p:nvPr>
            <p:ph type="title"/>
          </p:nvPr>
        </p:nvSpPr>
        <p:spPr>
          <a:xfrm>
            <a:off x="540000" y="540000"/>
            <a:ext cx="4500561" cy="2181946"/>
          </a:xfrm>
        </p:spPr>
        <p:txBody>
          <a:bodyPr anchor="t">
            <a:normAutofit/>
          </a:bodyPr>
          <a:lstStyle/>
          <a:p>
            <a:r>
              <a:rPr lang="en-SG" dirty="0"/>
              <a:t>Data Exploration</a:t>
            </a:r>
          </a:p>
        </p:txBody>
      </p:sp>
      <p:sp>
        <p:nvSpPr>
          <p:cNvPr id="3" name="Content Placeholder 2">
            <a:extLst>
              <a:ext uri="{FF2B5EF4-FFF2-40B4-BE49-F238E27FC236}">
                <a16:creationId xmlns:a16="http://schemas.microsoft.com/office/drawing/2014/main" id="{5882E4C9-6EC2-638D-F21F-2EC2176230F0}"/>
              </a:ext>
            </a:extLst>
          </p:cNvPr>
          <p:cNvSpPr>
            <a:spLocks noGrp="1"/>
          </p:cNvSpPr>
          <p:nvPr>
            <p:ph idx="1"/>
          </p:nvPr>
        </p:nvSpPr>
        <p:spPr>
          <a:xfrm>
            <a:off x="550863" y="2947121"/>
            <a:ext cx="4500562" cy="3361604"/>
          </a:xfrm>
        </p:spPr>
        <p:txBody>
          <a:bodyPr anchor="t">
            <a:normAutofit/>
          </a:bodyPr>
          <a:lstStyle/>
          <a:p>
            <a:pPr marL="0" indent="0">
              <a:buNone/>
            </a:pPr>
            <a:r>
              <a:rPr lang="en-SG" dirty="0"/>
              <a:t>Finally, I used </a:t>
            </a:r>
            <a:r>
              <a:rPr lang="en-SG" dirty="0" err="1"/>
              <a:t>df.isnull</a:t>
            </a:r>
            <a:r>
              <a:rPr lang="en-SG" dirty="0"/>
              <a:t>().sum() to see if there was any missing values and the amount. We can see that Quality, Process T, and Rotation Speed have missing values while the rest don’t.</a:t>
            </a:r>
          </a:p>
        </p:txBody>
      </p:sp>
      <p:pic>
        <p:nvPicPr>
          <p:cNvPr id="5" name="Picture 4" descr="A screenshot of a computer&#10;&#10;Description automatically generated">
            <a:extLst>
              <a:ext uri="{FF2B5EF4-FFF2-40B4-BE49-F238E27FC236}">
                <a16:creationId xmlns:a16="http://schemas.microsoft.com/office/drawing/2014/main" id="{07B25A36-F156-8CF5-CEC5-8022F7E38B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000" y="1682572"/>
            <a:ext cx="3600000" cy="3492856"/>
          </a:xfrm>
          <a:prstGeom prst="rect">
            <a:avLst/>
          </a:prstGeom>
        </p:spPr>
      </p:pic>
    </p:spTree>
    <p:extLst>
      <p:ext uri="{BB962C8B-B14F-4D97-AF65-F5344CB8AC3E}">
        <p14:creationId xmlns:p14="http://schemas.microsoft.com/office/powerpoint/2010/main" val="3159538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7" name="Group 1036">
            <a:extLst>
              <a:ext uri="{FF2B5EF4-FFF2-40B4-BE49-F238E27FC236}">
                <a16:creationId xmlns:a16="http://schemas.microsoft.com/office/drawing/2014/main" id="{BF4E480B-94D6-46F9-A2B6-B98D311FD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038" name="Rectangle 1037">
              <a:extLst>
                <a:ext uri="{FF2B5EF4-FFF2-40B4-BE49-F238E27FC236}">
                  <a16:creationId xmlns:a16="http://schemas.microsoft.com/office/drawing/2014/main" id="{07183CDE-91A1-40C3-8E80-66F89E1C2D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39" name="Oval 1038">
              <a:extLst>
                <a:ext uri="{FF2B5EF4-FFF2-40B4-BE49-F238E27FC236}">
                  <a16:creationId xmlns:a16="http://schemas.microsoft.com/office/drawing/2014/main" id="{A6756515-F9AA-46BD-8DD2-AA15BA492A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40" name="Oval 1039">
              <a:extLst>
                <a:ext uri="{FF2B5EF4-FFF2-40B4-BE49-F238E27FC236}">
                  <a16:creationId xmlns:a16="http://schemas.microsoft.com/office/drawing/2014/main" id="{ABA365E2-8B71-408B-9092-0104216AC7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041" name="Group 1040">
              <a:extLst>
                <a:ext uri="{FF2B5EF4-FFF2-40B4-BE49-F238E27FC236}">
                  <a16:creationId xmlns:a16="http://schemas.microsoft.com/office/drawing/2014/main" id="{BEDB8D7A-1BF6-4CDB-B93A-7736955F50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046" name="Rectangle 1045">
                <a:extLst>
                  <a:ext uri="{FF2B5EF4-FFF2-40B4-BE49-F238E27FC236}">
                    <a16:creationId xmlns:a16="http://schemas.microsoft.com/office/drawing/2014/main" id="{5AACD774-5167-46C7-8A62-6E2FE4BE9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47" name="Rectangle 1046">
                <a:extLst>
                  <a:ext uri="{FF2B5EF4-FFF2-40B4-BE49-F238E27FC236}">
                    <a16:creationId xmlns:a16="http://schemas.microsoft.com/office/drawing/2014/main" id="{06E0F2D8-452E-48F9-9912-C47EAEAE1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42" name="Group 1041">
              <a:extLst>
                <a:ext uri="{FF2B5EF4-FFF2-40B4-BE49-F238E27FC236}">
                  <a16:creationId xmlns:a16="http://schemas.microsoft.com/office/drawing/2014/main" id="{91FBBF95-430B-427C-A6E8-DB899217F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044" name="Rectangle 1043">
                <a:extLst>
                  <a:ext uri="{FF2B5EF4-FFF2-40B4-BE49-F238E27FC236}">
                    <a16:creationId xmlns:a16="http://schemas.microsoft.com/office/drawing/2014/main" id="{BEE64698-3ED2-4395-B7FC-65248E437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45" name="Rectangle 1044">
                <a:extLst>
                  <a:ext uri="{FF2B5EF4-FFF2-40B4-BE49-F238E27FC236}">
                    <a16:creationId xmlns:a16="http://schemas.microsoft.com/office/drawing/2014/main" id="{FE20B1E1-CE09-4C2A-A3FB-DB8026C5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043" name="Rectangle 1042">
              <a:extLst>
                <a:ext uri="{FF2B5EF4-FFF2-40B4-BE49-F238E27FC236}">
                  <a16:creationId xmlns:a16="http://schemas.microsoft.com/office/drawing/2014/main" id="{0CB2405B-A907-48B3-906A-FB3573C0B2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049" name="Rectangle 1048">
            <a:extLst>
              <a:ext uri="{FF2B5EF4-FFF2-40B4-BE49-F238E27FC236}">
                <a16:creationId xmlns:a16="http://schemas.microsoft.com/office/drawing/2014/main" id="{6DC8E2D9-6729-4614-8667-C1016D31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1051" name="Rectangle 1050">
            <a:extLst>
              <a:ext uri="{FF2B5EF4-FFF2-40B4-BE49-F238E27FC236}">
                <a16:creationId xmlns:a16="http://schemas.microsoft.com/office/drawing/2014/main" id="{EB9B5A19-3592-48E2-BC31-90E092BD6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3" name="Group 1052">
            <a:extLst>
              <a:ext uri="{FF2B5EF4-FFF2-40B4-BE49-F238E27FC236}">
                <a16:creationId xmlns:a16="http://schemas.microsoft.com/office/drawing/2014/main" id="{E2548C40-4C00-4E91-BFA6-84B4D66225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054" name="Rectangle 1053">
              <a:extLst>
                <a:ext uri="{FF2B5EF4-FFF2-40B4-BE49-F238E27FC236}">
                  <a16:creationId xmlns:a16="http://schemas.microsoft.com/office/drawing/2014/main" id="{B6EE6BCA-C84E-4BED-B084-F599F7EE68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Oval 1054">
              <a:extLst>
                <a:ext uri="{FF2B5EF4-FFF2-40B4-BE49-F238E27FC236}">
                  <a16:creationId xmlns:a16="http://schemas.microsoft.com/office/drawing/2014/main" id="{24695526-4BAA-4EFE-91C1-1E446117C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Oval 1055">
              <a:extLst>
                <a:ext uri="{FF2B5EF4-FFF2-40B4-BE49-F238E27FC236}">
                  <a16:creationId xmlns:a16="http://schemas.microsoft.com/office/drawing/2014/main" id="{00DF9B86-7987-40DC-85D6-479F5A2E87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57" name="Group 1056">
              <a:extLst>
                <a:ext uri="{FF2B5EF4-FFF2-40B4-BE49-F238E27FC236}">
                  <a16:creationId xmlns:a16="http://schemas.microsoft.com/office/drawing/2014/main" id="{A5465368-1AF5-43D6-BAD2-6BE8B04D94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062" name="Rectangle 1061">
                <a:extLst>
                  <a:ext uri="{FF2B5EF4-FFF2-40B4-BE49-F238E27FC236}">
                    <a16:creationId xmlns:a16="http://schemas.microsoft.com/office/drawing/2014/main" id="{CEB28D27-BDED-4D8C-94FC-58E93235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Rectangle 1062">
                <a:extLst>
                  <a:ext uri="{FF2B5EF4-FFF2-40B4-BE49-F238E27FC236}">
                    <a16:creationId xmlns:a16="http://schemas.microsoft.com/office/drawing/2014/main" id="{77AC833D-449C-45F4-9851-216F3681F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8" name="Group 1057">
              <a:extLst>
                <a:ext uri="{FF2B5EF4-FFF2-40B4-BE49-F238E27FC236}">
                  <a16:creationId xmlns:a16="http://schemas.microsoft.com/office/drawing/2014/main" id="{09528AAE-A1EB-446C-81BE-BA5E4490E4E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060" name="Rectangle 1059">
                <a:extLst>
                  <a:ext uri="{FF2B5EF4-FFF2-40B4-BE49-F238E27FC236}">
                    <a16:creationId xmlns:a16="http://schemas.microsoft.com/office/drawing/2014/main" id="{9F7C0F2C-B581-402B-B4C4-6DFB71314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Rectangle 1060">
                <a:extLst>
                  <a:ext uri="{FF2B5EF4-FFF2-40B4-BE49-F238E27FC236}">
                    <a16:creationId xmlns:a16="http://schemas.microsoft.com/office/drawing/2014/main" id="{356A6B0D-707F-420B-BF4D-2CB60CCCA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59" name="Rectangle 1058">
              <a:extLst>
                <a:ext uri="{FF2B5EF4-FFF2-40B4-BE49-F238E27FC236}">
                  <a16:creationId xmlns:a16="http://schemas.microsoft.com/office/drawing/2014/main" id="{F8B7A59E-D61A-4BEB-A38A-1E8E5EBB83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5" name="Rectangle 1064">
            <a:extLst>
              <a:ext uri="{FF2B5EF4-FFF2-40B4-BE49-F238E27FC236}">
                <a16:creationId xmlns:a16="http://schemas.microsoft.com/office/drawing/2014/main" id="{DD99E1B6-CBC4-4306-9DFC-847D6D135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2450E02C-3AA4-A2B5-2FCB-31192A0634B6}"/>
              </a:ext>
            </a:extLst>
          </p:cNvPr>
          <p:cNvSpPr>
            <a:spLocks noGrp="1"/>
          </p:cNvSpPr>
          <p:nvPr>
            <p:ph type="title"/>
          </p:nvPr>
        </p:nvSpPr>
        <p:spPr>
          <a:xfrm>
            <a:off x="540000" y="540000"/>
            <a:ext cx="4500561" cy="4259814"/>
          </a:xfrm>
        </p:spPr>
        <p:txBody>
          <a:bodyPr vert="horz" lIns="91440" tIns="45720" rIns="91440" bIns="45720" rtlCol="0" anchor="b">
            <a:normAutofit/>
          </a:bodyPr>
          <a:lstStyle/>
          <a:p>
            <a:r>
              <a:rPr lang="en-US" sz="6200" dirty="0"/>
              <a:t>Data </a:t>
            </a:r>
            <a:r>
              <a:rPr lang="en-US" sz="6200" dirty="0" err="1"/>
              <a:t>Visualisation</a:t>
            </a:r>
            <a:endParaRPr lang="en-US" sz="6200" dirty="0"/>
          </a:p>
        </p:txBody>
      </p:sp>
      <p:pic>
        <p:nvPicPr>
          <p:cNvPr id="1026" name="Picture 2">
            <a:extLst>
              <a:ext uri="{FF2B5EF4-FFF2-40B4-BE49-F238E27FC236}">
                <a16:creationId xmlns:a16="http://schemas.microsoft.com/office/drawing/2014/main" id="{2C45B3CA-0B2F-B985-80F5-75CA3CB2F42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62152" y="747823"/>
            <a:ext cx="2931257" cy="225706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B2F3541F-3303-B758-3CAB-5D4E712736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7807" y="747823"/>
            <a:ext cx="2889845" cy="225706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9DDC6284-6F68-CBEE-8532-1E33E17815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3145" y="3929321"/>
            <a:ext cx="2930264" cy="22886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a:extLst>
              <a:ext uri="{FF2B5EF4-FFF2-40B4-BE49-F238E27FC236}">
                <a16:creationId xmlns:a16="http://schemas.microsoft.com/office/drawing/2014/main" id="{B557FB5A-48DA-981C-FF24-AFC23093EA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2992" y="3633078"/>
            <a:ext cx="2592950" cy="2726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311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937E9-12B5-323F-7ACB-58004BF66931}"/>
              </a:ext>
            </a:extLst>
          </p:cNvPr>
          <p:cNvSpPr>
            <a:spLocks noGrp="1"/>
          </p:cNvSpPr>
          <p:nvPr>
            <p:ph type="title"/>
          </p:nvPr>
        </p:nvSpPr>
        <p:spPr/>
        <p:txBody>
          <a:bodyPr/>
          <a:lstStyle/>
          <a:p>
            <a:r>
              <a:rPr lang="en-SG" dirty="0"/>
              <a:t>Data Cleaning (Imputation)</a:t>
            </a:r>
          </a:p>
        </p:txBody>
      </p:sp>
      <p:sp>
        <p:nvSpPr>
          <p:cNvPr id="3" name="Content Placeholder 2">
            <a:extLst>
              <a:ext uri="{FF2B5EF4-FFF2-40B4-BE49-F238E27FC236}">
                <a16:creationId xmlns:a16="http://schemas.microsoft.com/office/drawing/2014/main" id="{3A12BE07-14D9-1851-22D0-10366302E45D}"/>
              </a:ext>
            </a:extLst>
          </p:cNvPr>
          <p:cNvSpPr>
            <a:spLocks noGrp="1"/>
          </p:cNvSpPr>
          <p:nvPr>
            <p:ph idx="1"/>
          </p:nvPr>
        </p:nvSpPr>
        <p:spPr/>
        <p:txBody>
          <a:bodyPr/>
          <a:lstStyle/>
          <a:p>
            <a:pPr marL="0" indent="0">
              <a:buNone/>
            </a:pPr>
            <a:r>
              <a:rPr lang="en-SG" dirty="0"/>
              <a:t>For Ambient T, I used a </a:t>
            </a:r>
            <a:r>
              <a:rPr lang="en-SG" dirty="0" err="1"/>
              <a:t>SimpleImputer</a:t>
            </a:r>
            <a:r>
              <a:rPr lang="en-SG" dirty="0"/>
              <a:t> with the strategy “Mean” as there is a gap in the middle, which could be due to the missing data.</a:t>
            </a:r>
          </a:p>
          <a:p>
            <a:pPr marL="0" indent="0">
              <a:buNone/>
            </a:pPr>
            <a:endParaRPr lang="en-SG" dirty="0"/>
          </a:p>
          <a:p>
            <a:pPr marL="0" indent="0">
              <a:buNone/>
            </a:pPr>
            <a:r>
              <a:rPr lang="en-SG" dirty="0"/>
              <a:t>For Rotation Speed, I used a </a:t>
            </a:r>
            <a:r>
              <a:rPr lang="en-SG" dirty="0" err="1"/>
              <a:t>SimpleImputer</a:t>
            </a:r>
            <a:r>
              <a:rPr lang="en-SG" dirty="0"/>
              <a:t> with the strategy “Median” as it is heavily right-skewed but not a clear area which might have been affected by missing data.</a:t>
            </a:r>
          </a:p>
          <a:p>
            <a:pPr marL="0" indent="0">
              <a:buNone/>
            </a:pPr>
            <a:endParaRPr lang="en-SG" dirty="0"/>
          </a:p>
          <a:p>
            <a:pPr marL="0" indent="0">
              <a:buNone/>
            </a:pPr>
            <a:r>
              <a:rPr lang="en-SG" dirty="0"/>
              <a:t>For Quality, I used </a:t>
            </a:r>
            <a:r>
              <a:rPr lang="en-SG" dirty="0" err="1"/>
              <a:t>KNNImputer</a:t>
            </a:r>
            <a:r>
              <a:rPr lang="en-SG" dirty="0"/>
              <a:t> with 5 </a:t>
            </a:r>
            <a:r>
              <a:rPr lang="en-SG" dirty="0" err="1"/>
              <a:t>neighbors</a:t>
            </a:r>
            <a:r>
              <a:rPr lang="en-SG" dirty="0"/>
              <a:t> as using a </a:t>
            </a:r>
            <a:r>
              <a:rPr lang="en-SG" dirty="0" err="1"/>
              <a:t>SimpleImputer</a:t>
            </a:r>
            <a:r>
              <a:rPr lang="en-SG" dirty="0"/>
              <a:t> would lead to all the </a:t>
            </a:r>
            <a:r>
              <a:rPr lang="en-SG" dirty="0" err="1"/>
              <a:t>mssing</a:t>
            </a:r>
            <a:r>
              <a:rPr lang="en-SG" dirty="0"/>
              <a:t> values to be filled with Low Quality.</a:t>
            </a:r>
          </a:p>
        </p:txBody>
      </p:sp>
    </p:spTree>
    <p:extLst>
      <p:ext uri="{BB962C8B-B14F-4D97-AF65-F5344CB8AC3E}">
        <p14:creationId xmlns:p14="http://schemas.microsoft.com/office/powerpoint/2010/main" val="2396596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D2FD795-8DF5-44F0-8664-4D8F626DD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32" name="Rectangle 31">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40" name="Rectangle 39">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8" name="Rectangle 37">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Rectangle 42">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CD191208-1DF0-78A7-0353-B0564C7E0116}"/>
              </a:ext>
            </a:extLst>
          </p:cNvPr>
          <p:cNvSpPr>
            <a:spLocks noGrp="1"/>
          </p:cNvSpPr>
          <p:nvPr>
            <p:ph type="title"/>
          </p:nvPr>
        </p:nvSpPr>
        <p:spPr>
          <a:xfrm>
            <a:off x="7086315" y="545126"/>
            <a:ext cx="4554821" cy="2186096"/>
          </a:xfrm>
        </p:spPr>
        <p:txBody>
          <a:bodyPr anchor="t">
            <a:normAutofit fontScale="90000"/>
          </a:bodyPr>
          <a:lstStyle/>
          <a:p>
            <a:r>
              <a:rPr lang="en-SG" dirty="0"/>
              <a:t>Data Preprocessing</a:t>
            </a:r>
          </a:p>
        </p:txBody>
      </p:sp>
      <p:pic>
        <p:nvPicPr>
          <p:cNvPr id="7" name="Picture 6" descr="A screen shot of a computer program&#10;&#10;Description automatically generated">
            <a:extLst>
              <a:ext uri="{FF2B5EF4-FFF2-40B4-BE49-F238E27FC236}">
                <a16:creationId xmlns:a16="http://schemas.microsoft.com/office/drawing/2014/main" id="{6DCDFC86-3228-BFAA-73FD-02FA657B7C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000" y="1201093"/>
            <a:ext cx="6049714" cy="4446539"/>
          </a:xfrm>
          <a:prstGeom prst="rect">
            <a:avLst/>
          </a:prstGeom>
        </p:spPr>
      </p:pic>
      <p:sp>
        <p:nvSpPr>
          <p:cNvPr id="3" name="Content Placeholder 2">
            <a:extLst>
              <a:ext uri="{FF2B5EF4-FFF2-40B4-BE49-F238E27FC236}">
                <a16:creationId xmlns:a16="http://schemas.microsoft.com/office/drawing/2014/main" id="{1C245B8C-319A-BA7C-DFAB-26B5D36AB8AB}"/>
              </a:ext>
            </a:extLst>
          </p:cNvPr>
          <p:cNvSpPr>
            <a:spLocks noGrp="1"/>
          </p:cNvSpPr>
          <p:nvPr>
            <p:ph idx="1"/>
          </p:nvPr>
        </p:nvSpPr>
        <p:spPr>
          <a:xfrm>
            <a:off x="7104063" y="2947121"/>
            <a:ext cx="4537073" cy="3361604"/>
          </a:xfrm>
        </p:spPr>
        <p:txBody>
          <a:bodyPr anchor="t">
            <a:normAutofit/>
          </a:bodyPr>
          <a:lstStyle/>
          <a:p>
            <a:pPr marL="0" indent="0">
              <a:lnSpc>
                <a:spcPct val="115000"/>
              </a:lnSpc>
              <a:buNone/>
            </a:pPr>
            <a:r>
              <a:rPr lang="en-SG" sz="1500" dirty="0"/>
              <a:t>For all the numeric values, I used </a:t>
            </a:r>
            <a:r>
              <a:rPr lang="en-SG" sz="1500" dirty="0" err="1"/>
              <a:t>StandardScaler</a:t>
            </a:r>
            <a:r>
              <a:rPr lang="en-SG" sz="1500" dirty="0"/>
              <a:t> to standardize them to </a:t>
            </a:r>
            <a:r>
              <a:rPr lang="en-US" sz="1500" i="0" dirty="0">
                <a:effectLst/>
              </a:rPr>
              <a:t>prevent any single feature from dominating the learning process due to its larger magnitude.</a:t>
            </a:r>
          </a:p>
          <a:p>
            <a:pPr marL="0" indent="0">
              <a:lnSpc>
                <a:spcPct val="115000"/>
              </a:lnSpc>
              <a:buNone/>
            </a:pPr>
            <a:endParaRPr lang="en-US" sz="1500" dirty="0"/>
          </a:p>
          <a:p>
            <a:pPr marL="0" indent="0">
              <a:lnSpc>
                <a:spcPct val="115000"/>
              </a:lnSpc>
              <a:buNone/>
            </a:pPr>
            <a:r>
              <a:rPr lang="en-US" sz="1500" i="0" dirty="0">
                <a:effectLst/>
              </a:rPr>
              <a:t>For Quality, I used </a:t>
            </a:r>
            <a:r>
              <a:rPr lang="en-US" sz="1500" i="0" dirty="0" err="1">
                <a:effectLst/>
              </a:rPr>
              <a:t>OrdinalEncoder</a:t>
            </a:r>
            <a:r>
              <a:rPr lang="en-US" sz="1500" i="0" dirty="0">
                <a:effectLst/>
              </a:rPr>
              <a:t> to convert the categorical values to numeric (L = 0, M  = 1, H = 2). This also allows </a:t>
            </a:r>
            <a:r>
              <a:rPr lang="en-US" sz="1500" i="0" dirty="0" err="1">
                <a:effectLst/>
              </a:rPr>
              <a:t>KNNImputer</a:t>
            </a:r>
            <a:r>
              <a:rPr lang="en-US" sz="1500" i="0" dirty="0">
                <a:effectLst/>
              </a:rPr>
              <a:t> to work as </a:t>
            </a:r>
            <a:r>
              <a:rPr lang="en-US" sz="1500" i="0" dirty="0" err="1">
                <a:effectLst/>
              </a:rPr>
              <a:t>KNNImputer</a:t>
            </a:r>
            <a:r>
              <a:rPr lang="en-US" sz="1500" i="0" dirty="0">
                <a:effectLst/>
              </a:rPr>
              <a:t> does not work with categorical values.</a:t>
            </a:r>
          </a:p>
          <a:p>
            <a:pPr>
              <a:lnSpc>
                <a:spcPct val="115000"/>
              </a:lnSpc>
            </a:pPr>
            <a:endParaRPr lang="en-SG" sz="1500" dirty="0"/>
          </a:p>
        </p:txBody>
      </p:sp>
    </p:spTree>
    <p:extLst>
      <p:ext uri="{BB962C8B-B14F-4D97-AF65-F5344CB8AC3E}">
        <p14:creationId xmlns:p14="http://schemas.microsoft.com/office/powerpoint/2010/main" val="1612494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D98E61A-E482-4DCD-B615-A18B8685C2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5" name="Rectangle 14">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3" name="Rectangle 22">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21" name="Rectangle 20">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27B3A7D5-D1F5-AED3-EA90-21EC1705AB92}"/>
              </a:ext>
            </a:extLst>
          </p:cNvPr>
          <p:cNvSpPr>
            <a:spLocks noGrp="1"/>
          </p:cNvSpPr>
          <p:nvPr>
            <p:ph type="title"/>
          </p:nvPr>
        </p:nvSpPr>
        <p:spPr>
          <a:xfrm>
            <a:off x="7086315" y="545126"/>
            <a:ext cx="4554821" cy="2186096"/>
          </a:xfrm>
        </p:spPr>
        <p:txBody>
          <a:bodyPr anchor="t">
            <a:normAutofit fontScale="90000"/>
          </a:bodyPr>
          <a:lstStyle/>
          <a:p>
            <a:r>
              <a:rPr lang="en-SG"/>
              <a:t>Data Preprocessing</a:t>
            </a:r>
            <a:endParaRPr lang="en-SG" dirty="0"/>
          </a:p>
        </p:txBody>
      </p:sp>
      <p:pic>
        <p:nvPicPr>
          <p:cNvPr id="7" name="Picture 6" descr="A computer screen shot of a black screen&#10;&#10;Description automatically generated">
            <a:extLst>
              <a:ext uri="{FF2B5EF4-FFF2-40B4-BE49-F238E27FC236}">
                <a16:creationId xmlns:a16="http://schemas.microsoft.com/office/drawing/2014/main" id="{5C91915B-EA4D-F7CA-BFE3-4EE11EF3AF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4687" y="3043756"/>
            <a:ext cx="2670810" cy="2791525"/>
          </a:xfrm>
          <a:prstGeom prst="rect">
            <a:avLst/>
          </a:prstGeom>
        </p:spPr>
      </p:pic>
      <p:pic>
        <p:nvPicPr>
          <p:cNvPr id="5" name="Picture 4" descr="A computer screen shot of text&#10;&#10;Description automatically generated">
            <a:extLst>
              <a:ext uri="{FF2B5EF4-FFF2-40B4-BE49-F238E27FC236}">
                <a16:creationId xmlns:a16="http://schemas.microsoft.com/office/drawing/2014/main" id="{17080460-9497-6333-10F1-ADA8C6DE8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717" y="752056"/>
            <a:ext cx="6049715" cy="1920784"/>
          </a:xfrm>
          <a:prstGeom prst="rect">
            <a:avLst/>
          </a:prstGeom>
        </p:spPr>
      </p:pic>
      <p:sp>
        <p:nvSpPr>
          <p:cNvPr id="3" name="Content Placeholder 2">
            <a:extLst>
              <a:ext uri="{FF2B5EF4-FFF2-40B4-BE49-F238E27FC236}">
                <a16:creationId xmlns:a16="http://schemas.microsoft.com/office/drawing/2014/main" id="{6DE87845-C420-9499-83C6-A4694FD42FB5}"/>
              </a:ext>
            </a:extLst>
          </p:cNvPr>
          <p:cNvSpPr>
            <a:spLocks noGrp="1"/>
          </p:cNvSpPr>
          <p:nvPr>
            <p:ph idx="1"/>
          </p:nvPr>
        </p:nvSpPr>
        <p:spPr>
          <a:xfrm>
            <a:off x="7104063" y="2947121"/>
            <a:ext cx="4537073" cy="3361604"/>
          </a:xfrm>
        </p:spPr>
        <p:txBody>
          <a:bodyPr anchor="t">
            <a:normAutofit/>
          </a:bodyPr>
          <a:lstStyle/>
          <a:p>
            <a:pPr marL="0" indent="0">
              <a:buNone/>
            </a:pPr>
            <a:r>
              <a:rPr lang="en-SG" dirty="0"/>
              <a:t>Splitting the dataset and imputing the missing values, I used </a:t>
            </a:r>
            <a:r>
              <a:rPr lang="fr-FR" dirty="0" err="1"/>
              <a:t>y_train.value_counts</a:t>
            </a:r>
            <a:r>
              <a:rPr lang="fr-FR" dirty="0"/>
              <a:t>() to </a:t>
            </a:r>
            <a:r>
              <a:rPr lang="fr-FR" dirty="0" err="1"/>
              <a:t>see</a:t>
            </a:r>
            <a:r>
              <a:rPr lang="fr-FR" dirty="0"/>
              <a:t> the distribution of the training set and </a:t>
            </a:r>
            <a:r>
              <a:rPr lang="fr-FR" dirty="0" err="1"/>
              <a:t>expectedly</a:t>
            </a:r>
            <a:r>
              <a:rPr lang="fr-FR" dirty="0"/>
              <a:t> </a:t>
            </a:r>
            <a:r>
              <a:rPr lang="fr-FR" dirty="0" err="1"/>
              <a:t>it</a:t>
            </a:r>
            <a:r>
              <a:rPr lang="fr-FR" dirty="0"/>
              <a:t> </a:t>
            </a:r>
            <a:r>
              <a:rPr lang="fr-FR" dirty="0" err="1"/>
              <a:t>showed</a:t>
            </a:r>
            <a:r>
              <a:rPr lang="fr-FR" dirty="0"/>
              <a:t> </a:t>
            </a:r>
            <a:r>
              <a:rPr lang="fr-FR" dirty="0" err="1"/>
              <a:t>that</a:t>
            </a:r>
            <a:r>
              <a:rPr lang="fr-FR" dirty="0"/>
              <a:t> </a:t>
            </a:r>
            <a:r>
              <a:rPr lang="fr-FR" dirty="0" err="1"/>
              <a:t>it</a:t>
            </a:r>
            <a:r>
              <a:rPr lang="fr-FR" dirty="0"/>
              <a:t> </a:t>
            </a:r>
            <a:r>
              <a:rPr lang="fr-FR" dirty="0" err="1"/>
              <a:t>was</a:t>
            </a:r>
            <a:r>
              <a:rPr lang="fr-FR" dirty="0"/>
              <a:t> </a:t>
            </a:r>
            <a:r>
              <a:rPr lang="fr-FR" dirty="0" err="1"/>
              <a:t>very</a:t>
            </a:r>
            <a:r>
              <a:rPr lang="fr-FR" dirty="0"/>
              <a:t> </a:t>
            </a:r>
            <a:r>
              <a:rPr lang="fr-FR" dirty="0" err="1"/>
              <a:t>imbalanced</a:t>
            </a:r>
            <a:r>
              <a:rPr lang="fr-FR" dirty="0"/>
              <a:t>. So I </a:t>
            </a:r>
            <a:r>
              <a:rPr lang="fr-FR" dirty="0" err="1"/>
              <a:t>used</a:t>
            </a:r>
            <a:r>
              <a:rPr lang="fr-FR" dirty="0"/>
              <a:t> SMOTE to </a:t>
            </a:r>
            <a:r>
              <a:rPr lang="en-US" b="0" i="0" dirty="0">
                <a:effectLst/>
              </a:rPr>
              <a:t>generate synthetic samples for the minority class, balancing the dataset.</a:t>
            </a:r>
            <a:endParaRPr lang="en-SG" dirty="0"/>
          </a:p>
        </p:txBody>
      </p:sp>
    </p:spTree>
    <p:extLst>
      <p:ext uri="{BB962C8B-B14F-4D97-AF65-F5344CB8AC3E}">
        <p14:creationId xmlns:p14="http://schemas.microsoft.com/office/powerpoint/2010/main" val="1960441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58143-B669-BA11-F285-9746C0F94856}"/>
              </a:ext>
            </a:extLst>
          </p:cNvPr>
          <p:cNvSpPr>
            <a:spLocks noGrp="1"/>
          </p:cNvSpPr>
          <p:nvPr>
            <p:ph type="title"/>
          </p:nvPr>
        </p:nvSpPr>
        <p:spPr/>
        <p:txBody>
          <a:bodyPr/>
          <a:lstStyle/>
          <a:p>
            <a:r>
              <a:rPr lang="en-SG" dirty="0"/>
              <a:t>Model Training and Evaluation</a:t>
            </a:r>
          </a:p>
        </p:txBody>
      </p:sp>
      <p:sp>
        <p:nvSpPr>
          <p:cNvPr id="3" name="Content Placeholder 2">
            <a:extLst>
              <a:ext uri="{FF2B5EF4-FFF2-40B4-BE49-F238E27FC236}">
                <a16:creationId xmlns:a16="http://schemas.microsoft.com/office/drawing/2014/main" id="{401311EB-6487-6C69-0D42-36416FEAB00E}"/>
              </a:ext>
            </a:extLst>
          </p:cNvPr>
          <p:cNvSpPr>
            <a:spLocks noGrp="1"/>
          </p:cNvSpPr>
          <p:nvPr>
            <p:ph idx="1"/>
          </p:nvPr>
        </p:nvSpPr>
        <p:spPr/>
        <p:txBody>
          <a:bodyPr/>
          <a:lstStyle/>
          <a:p>
            <a:pPr marL="0" indent="0">
              <a:buNone/>
            </a:pPr>
            <a:r>
              <a:rPr lang="en-SG" dirty="0"/>
              <a:t>For the models, I chose the ones commonly used and Dummy Classifier as a baseline. From the results, Dummy Regressor is very bad, </a:t>
            </a:r>
          </a:p>
        </p:txBody>
      </p:sp>
    </p:spTree>
    <p:extLst>
      <p:ext uri="{BB962C8B-B14F-4D97-AF65-F5344CB8AC3E}">
        <p14:creationId xmlns:p14="http://schemas.microsoft.com/office/powerpoint/2010/main" val="305079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618A-342E-7F5E-AAE5-1CEDB78F3C1F}"/>
              </a:ext>
            </a:extLst>
          </p:cNvPr>
          <p:cNvSpPr>
            <a:spLocks noGrp="1"/>
          </p:cNvSpPr>
          <p:nvPr>
            <p:ph type="title"/>
          </p:nvPr>
        </p:nvSpPr>
        <p:spPr/>
        <p:txBody>
          <a:bodyPr/>
          <a:lstStyle/>
          <a:p>
            <a:r>
              <a:rPr lang="en-SG" dirty="0"/>
              <a:t>Model Training and Evaluation</a:t>
            </a:r>
          </a:p>
        </p:txBody>
      </p:sp>
      <p:pic>
        <p:nvPicPr>
          <p:cNvPr id="5" name="Picture 4" descr="A screen shot of a computer&#10;&#10;Description automatically generated">
            <a:extLst>
              <a:ext uri="{FF2B5EF4-FFF2-40B4-BE49-F238E27FC236}">
                <a16:creationId xmlns:a16="http://schemas.microsoft.com/office/drawing/2014/main" id="{5A6CCAF9-19C3-C295-D1DA-F36513A04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9220" y="4077442"/>
            <a:ext cx="3349316" cy="2560588"/>
          </a:xfrm>
          <a:prstGeom prst="rect">
            <a:avLst/>
          </a:prstGeom>
        </p:spPr>
      </p:pic>
      <p:pic>
        <p:nvPicPr>
          <p:cNvPr id="7" name="Picture 6" descr="A screen shot of a computer&#10;&#10;Description automatically generated">
            <a:extLst>
              <a:ext uri="{FF2B5EF4-FFF2-40B4-BE49-F238E27FC236}">
                <a16:creationId xmlns:a16="http://schemas.microsoft.com/office/drawing/2014/main" id="{F1F9B6CB-7E2E-5BCF-386A-0D8AF3D083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9083" y="1488609"/>
            <a:ext cx="3140180" cy="2395494"/>
          </a:xfrm>
          <a:prstGeom prst="rect">
            <a:avLst/>
          </a:prstGeom>
        </p:spPr>
      </p:pic>
      <p:pic>
        <p:nvPicPr>
          <p:cNvPr id="9" name="Picture 8" descr="A screenshot of a computer screen&#10;&#10;Description automatically generated">
            <a:extLst>
              <a:ext uri="{FF2B5EF4-FFF2-40B4-BE49-F238E27FC236}">
                <a16:creationId xmlns:a16="http://schemas.microsoft.com/office/drawing/2014/main" id="{9024C251-F26D-7DAB-000B-38ADD730BA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9333" y="4089097"/>
            <a:ext cx="3358693" cy="2560588"/>
          </a:xfrm>
          <a:prstGeom prst="rect">
            <a:avLst/>
          </a:prstGeom>
        </p:spPr>
      </p:pic>
      <p:pic>
        <p:nvPicPr>
          <p:cNvPr id="11" name="Picture 10" descr="A screen shot of a computer&#10;&#10;Description automatically generated">
            <a:extLst>
              <a:ext uri="{FF2B5EF4-FFF2-40B4-BE49-F238E27FC236}">
                <a16:creationId xmlns:a16="http://schemas.microsoft.com/office/drawing/2014/main" id="{57FAFEFD-8337-9D63-0F6A-D215ED40E8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2737" y="1500264"/>
            <a:ext cx="3128465" cy="2383839"/>
          </a:xfrm>
          <a:prstGeom prst="rect">
            <a:avLst/>
          </a:prstGeom>
        </p:spPr>
      </p:pic>
      <p:pic>
        <p:nvPicPr>
          <p:cNvPr id="13" name="Picture 12" descr="A screenshot of a computer screen&#10;&#10;Description automatically generated">
            <a:extLst>
              <a:ext uri="{FF2B5EF4-FFF2-40B4-BE49-F238E27FC236}">
                <a16:creationId xmlns:a16="http://schemas.microsoft.com/office/drawing/2014/main" id="{14023332-B6B6-5C4D-7FDA-6A9316FF00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57138" y="1488609"/>
            <a:ext cx="3066009" cy="2397442"/>
          </a:xfrm>
          <a:prstGeom prst="rect">
            <a:avLst/>
          </a:prstGeom>
        </p:spPr>
      </p:pic>
    </p:spTree>
    <p:extLst>
      <p:ext uri="{BB962C8B-B14F-4D97-AF65-F5344CB8AC3E}">
        <p14:creationId xmlns:p14="http://schemas.microsoft.com/office/powerpoint/2010/main" val="4084673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2FD795-8DF5-44F0-8664-4D8F626DD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3" name="Rectangle 12">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1" name="Rectangle 20">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9" name="Rectangle 18">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752F9C1-E7D3-C818-4F9C-4167DB3520D8}"/>
              </a:ext>
            </a:extLst>
          </p:cNvPr>
          <p:cNvSpPr>
            <a:spLocks noGrp="1"/>
          </p:cNvSpPr>
          <p:nvPr>
            <p:ph type="title"/>
          </p:nvPr>
        </p:nvSpPr>
        <p:spPr>
          <a:xfrm>
            <a:off x="7086315" y="545126"/>
            <a:ext cx="4554821" cy="2186096"/>
          </a:xfrm>
        </p:spPr>
        <p:txBody>
          <a:bodyPr anchor="t">
            <a:normAutofit/>
          </a:bodyPr>
          <a:lstStyle/>
          <a:p>
            <a:r>
              <a:rPr lang="en-SG" dirty="0"/>
              <a:t>Cross Validation</a:t>
            </a:r>
          </a:p>
        </p:txBody>
      </p:sp>
      <p:pic>
        <p:nvPicPr>
          <p:cNvPr id="5" name="Picture 4" descr="A screenshot of a computer&#10;&#10;Description automatically generated">
            <a:extLst>
              <a:ext uri="{FF2B5EF4-FFF2-40B4-BE49-F238E27FC236}">
                <a16:creationId xmlns:a16="http://schemas.microsoft.com/office/drawing/2014/main" id="{5147B386-C134-8967-698B-4B6C56FEC6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400" y="540000"/>
            <a:ext cx="5364914" cy="5768725"/>
          </a:xfrm>
          <a:prstGeom prst="rect">
            <a:avLst/>
          </a:prstGeom>
        </p:spPr>
      </p:pic>
      <p:sp>
        <p:nvSpPr>
          <p:cNvPr id="3" name="Content Placeholder 2">
            <a:extLst>
              <a:ext uri="{FF2B5EF4-FFF2-40B4-BE49-F238E27FC236}">
                <a16:creationId xmlns:a16="http://schemas.microsoft.com/office/drawing/2014/main" id="{A0AF737D-6231-0A0A-B047-94C23FA0FEFF}"/>
              </a:ext>
            </a:extLst>
          </p:cNvPr>
          <p:cNvSpPr>
            <a:spLocks noGrp="1"/>
          </p:cNvSpPr>
          <p:nvPr>
            <p:ph idx="1"/>
          </p:nvPr>
        </p:nvSpPr>
        <p:spPr>
          <a:xfrm>
            <a:off x="7104063" y="2947121"/>
            <a:ext cx="4537073" cy="3361604"/>
          </a:xfrm>
        </p:spPr>
        <p:txBody>
          <a:bodyPr anchor="t">
            <a:normAutofit/>
          </a:bodyPr>
          <a:lstStyle/>
          <a:p>
            <a:pPr marL="0" indent="0">
              <a:buNone/>
            </a:pPr>
            <a:r>
              <a:rPr lang="en-SG" dirty="0"/>
              <a:t>Using cross validation to ensure that the results were accurate. Cross validation shows similar results and the Dummy Classifier doing poorly. </a:t>
            </a:r>
          </a:p>
        </p:txBody>
      </p:sp>
    </p:spTree>
    <p:extLst>
      <p:ext uri="{BB962C8B-B14F-4D97-AF65-F5344CB8AC3E}">
        <p14:creationId xmlns:p14="http://schemas.microsoft.com/office/powerpoint/2010/main" val="4203323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9" name="Group 2058">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2060" name="Rectangle 2059">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Oval 2060">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Oval 2061">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63" name="Group 2062">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068" name="Rectangle 2067">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Rectangle 2068">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64" name="Group 2063">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2066" name="Rectangle 2065">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5" name="Rectangle 2064">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71" name="Rectangle 2070">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455AA2E3-2477-4D68-A8E3-8900A05BC00C}"/>
              </a:ext>
            </a:extLst>
          </p:cNvPr>
          <p:cNvSpPr>
            <a:spLocks noGrp="1"/>
          </p:cNvSpPr>
          <p:nvPr>
            <p:ph type="title"/>
          </p:nvPr>
        </p:nvSpPr>
        <p:spPr>
          <a:xfrm>
            <a:off x="550863" y="540000"/>
            <a:ext cx="4500561" cy="1953501"/>
          </a:xfrm>
        </p:spPr>
        <p:txBody>
          <a:bodyPr anchor="t">
            <a:normAutofit/>
          </a:bodyPr>
          <a:lstStyle/>
          <a:p>
            <a:r>
              <a:rPr lang="en-SG" sz="5100" dirty="0"/>
              <a:t>Overfitting Check</a:t>
            </a:r>
          </a:p>
        </p:txBody>
      </p:sp>
      <p:sp>
        <p:nvSpPr>
          <p:cNvPr id="3" name="Content Placeholder 2">
            <a:extLst>
              <a:ext uri="{FF2B5EF4-FFF2-40B4-BE49-F238E27FC236}">
                <a16:creationId xmlns:a16="http://schemas.microsoft.com/office/drawing/2014/main" id="{CF8ADB2C-C6C7-6268-A850-E5D244D6563A}"/>
              </a:ext>
            </a:extLst>
          </p:cNvPr>
          <p:cNvSpPr>
            <a:spLocks noGrp="1"/>
          </p:cNvSpPr>
          <p:nvPr>
            <p:ph idx="1"/>
          </p:nvPr>
        </p:nvSpPr>
        <p:spPr>
          <a:xfrm>
            <a:off x="5232400" y="540000"/>
            <a:ext cx="6408738" cy="1791847"/>
          </a:xfrm>
        </p:spPr>
        <p:txBody>
          <a:bodyPr anchor="t">
            <a:normAutofit/>
          </a:bodyPr>
          <a:lstStyle/>
          <a:p>
            <a:pPr marL="0" indent="0">
              <a:buNone/>
            </a:pPr>
            <a:r>
              <a:rPr lang="en-SG" dirty="0"/>
              <a:t>Creating a learning curve for the two best models, Support Vector Machine and Random Forest, I am able to check for overfitting. From the results, both are not overfitted, so I will continue using the model with better results, Random Forest.</a:t>
            </a:r>
          </a:p>
        </p:txBody>
      </p:sp>
      <p:pic>
        <p:nvPicPr>
          <p:cNvPr id="2050" name="Picture 2">
            <a:extLst>
              <a:ext uri="{FF2B5EF4-FFF2-40B4-BE49-F238E27FC236}">
                <a16:creationId xmlns:a16="http://schemas.microsoft.com/office/drawing/2014/main" id="{AF782E20-D368-7E9D-46F5-5BB39EF39CC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96554" y="2871847"/>
            <a:ext cx="4347459" cy="34453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91AE5C0-DE9D-1FEF-C1F5-707DC180030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02286" y="2871847"/>
            <a:ext cx="4417129" cy="3445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930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4920-5941-9491-86C5-20C4E2197725}"/>
              </a:ext>
            </a:extLst>
          </p:cNvPr>
          <p:cNvSpPr>
            <a:spLocks noGrp="1"/>
          </p:cNvSpPr>
          <p:nvPr>
            <p:ph type="title"/>
          </p:nvPr>
        </p:nvSpPr>
        <p:spPr/>
        <p:txBody>
          <a:bodyPr/>
          <a:lstStyle/>
          <a:p>
            <a:r>
              <a:rPr lang="en-SG" dirty="0"/>
              <a:t>Hyperparameter Tuning</a:t>
            </a:r>
          </a:p>
        </p:txBody>
      </p:sp>
      <p:sp>
        <p:nvSpPr>
          <p:cNvPr id="3" name="Content Placeholder 2">
            <a:extLst>
              <a:ext uri="{FF2B5EF4-FFF2-40B4-BE49-F238E27FC236}">
                <a16:creationId xmlns:a16="http://schemas.microsoft.com/office/drawing/2014/main" id="{379B0DEB-1519-5AC0-0049-97AF965F62C7}"/>
              </a:ext>
            </a:extLst>
          </p:cNvPr>
          <p:cNvSpPr>
            <a:spLocks noGrp="1"/>
          </p:cNvSpPr>
          <p:nvPr>
            <p:ph idx="1"/>
          </p:nvPr>
        </p:nvSpPr>
        <p:spPr/>
        <p:txBody>
          <a:bodyPr/>
          <a:lstStyle/>
          <a:p>
            <a:pPr marL="0" indent="0">
              <a:buNone/>
            </a:pPr>
            <a:r>
              <a:rPr lang="en-SG" dirty="0"/>
              <a:t>I chose hyperparameters for Random Forest </a:t>
            </a:r>
            <a:r>
              <a:rPr lang="en-US" i="0" dirty="0">
                <a:solidFill>
                  <a:srgbClr val="FFFFFF"/>
                </a:solidFill>
                <a:effectLst/>
              </a:rPr>
              <a:t>to try and control model complexity, prevent overfitting, and optimize performance to get a well-balanced model. </a:t>
            </a:r>
            <a:r>
              <a:rPr lang="en-US" dirty="0">
                <a:solidFill>
                  <a:srgbClr val="FFFFFF"/>
                </a:solidFill>
              </a:rPr>
              <a:t>I also use </a:t>
            </a:r>
            <a:r>
              <a:rPr lang="en-US" dirty="0" err="1">
                <a:solidFill>
                  <a:srgbClr val="FFFFFF"/>
                </a:solidFill>
              </a:rPr>
              <a:t>RandomSearchCV</a:t>
            </a:r>
            <a:r>
              <a:rPr lang="en-US" dirty="0">
                <a:solidFill>
                  <a:srgbClr val="FFFFFF"/>
                </a:solidFill>
              </a:rPr>
              <a:t> to improve efficiency and speed as using </a:t>
            </a:r>
            <a:r>
              <a:rPr lang="en-US" dirty="0" err="1">
                <a:solidFill>
                  <a:srgbClr val="FFFFFF"/>
                </a:solidFill>
              </a:rPr>
              <a:t>GridSearchCV</a:t>
            </a:r>
            <a:r>
              <a:rPr lang="en-US" dirty="0">
                <a:solidFill>
                  <a:srgbClr val="FFFFFF"/>
                </a:solidFill>
              </a:rPr>
              <a:t> gave similar results.</a:t>
            </a:r>
            <a:endParaRPr lang="en-US" i="0" dirty="0">
              <a:solidFill>
                <a:srgbClr val="FFFFFF"/>
              </a:solidFill>
              <a:effectLst/>
            </a:endParaRPr>
          </a:p>
          <a:p>
            <a:pPr marL="0" indent="0">
              <a:buNone/>
            </a:pPr>
            <a:endParaRPr lang="en-SG" dirty="0"/>
          </a:p>
        </p:txBody>
      </p:sp>
    </p:spTree>
    <p:extLst>
      <p:ext uri="{BB962C8B-B14F-4D97-AF65-F5344CB8AC3E}">
        <p14:creationId xmlns:p14="http://schemas.microsoft.com/office/powerpoint/2010/main" val="2326762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50AE57-9C4B-435D-3C34-F20EE42D8D6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C8C0F4-5C44-4C3F-B321-5CB3E2BAB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87A62DB-71D7-497D-BE1C-933ECB515A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13" name="Oval 12">
              <a:extLst>
                <a:ext uri="{FF2B5EF4-FFF2-40B4-BE49-F238E27FC236}">
                  <a16:creationId xmlns:a16="http://schemas.microsoft.com/office/drawing/2014/main" id="{FDAC2767-A7E3-4697-90F6-443A583140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23E396-A746-411A-8709-32ABC4DDEA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35C986-CB82-4211-A910-D232B9BCA1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7" name="Freeform: Shape 16">
            <a:extLst>
              <a:ext uri="{FF2B5EF4-FFF2-40B4-BE49-F238E27FC236}">
                <a16:creationId xmlns:a16="http://schemas.microsoft.com/office/drawing/2014/main" id="{837F2C8F-CC11-4A18-AA7E-AE8C022CD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6000" y="1"/>
            <a:ext cx="6858000" cy="6857999"/>
          </a:xfrm>
          <a:custGeom>
            <a:avLst/>
            <a:gdLst>
              <a:gd name="connsiteX0" fmla="*/ 3428961 w 6858000"/>
              <a:gd name="connsiteY0" fmla="*/ 0 h 6857999"/>
              <a:gd name="connsiteX1" fmla="*/ 3429042 w 6858000"/>
              <a:gd name="connsiteY1" fmla="*/ 0 h 6857999"/>
              <a:gd name="connsiteX2" fmla="*/ 3605457 w 6858000"/>
              <a:gd name="connsiteY2" fmla="*/ 4461 h 6857999"/>
              <a:gd name="connsiteX3" fmla="*/ 6858000 w 6858000"/>
              <a:gd name="connsiteY3" fmla="*/ 3429000 h 6857999"/>
              <a:gd name="connsiteX4" fmla="*/ 3429001 w 6858000"/>
              <a:gd name="connsiteY4" fmla="*/ 6857999 h 6857999"/>
              <a:gd name="connsiteX5" fmla="*/ 0 w 6858000"/>
              <a:gd name="connsiteY5" fmla="*/ 3429000 h 6857999"/>
              <a:gd name="connsiteX6" fmla="*/ 3252545 w 6858000"/>
              <a:gd name="connsiteY6" fmla="*/ 44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7999">
                <a:moveTo>
                  <a:pt x="3428961" y="0"/>
                </a:moveTo>
                <a:lnTo>
                  <a:pt x="3429042" y="0"/>
                </a:lnTo>
                <a:lnTo>
                  <a:pt x="3605457" y="4461"/>
                </a:lnTo>
                <a:cubicBezTo>
                  <a:pt x="5417236" y="96300"/>
                  <a:pt x="6858000" y="1594396"/>
                  <a:pt x="6858000" y="3429000"/>
                </a:cubicBezTo>
                <a:cubicBezTo>
                  <a:pt x="6858000" y="5322784"/>
                  <a:pt x="5322784" y="6857999"/>
                  <a:pt x="3429001" y="6857999"/>
                </a:cubicBezTo>
                <a:cubicBezTo>
                  <a:pt x="1535216" y="6857999"/>
                  <a:pt x="0" y="5322784"/>
                  <a:pt x="0" y="3429000"/>
                </a:cubicBezTo>
                <a:cubicBezTo>
                  <a:pt x="0" y="1594396"/>
                  <a:pt x="1440765" y="96300"/>
                  <a:pt x="3252545" y="4461"/>
                </a:cubicBezTo>
                <a:close/>
              </a:path>
            </a:pathLst>
          </a:custGeom>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A6BFB21-B8D7-822D-7705-061653301BE5}"/>
              </a:ext>
            </a:extLst>
          </p:cNvPr>
          <p:cNvSpPr>
            <a:spLocks noGrp="1"/>
          </p:cNvSpPr>
          <p:nvPr>
            <p:ph type="title"/>
          </p:nvPr>
        </p:nvSpPr>
        <p:spPr>
          <a:xfrm>
            <a:off x="540000" y="540000"/>
            <a:ext cx="4500561" cy="2181946"/>
          </a:xfrm>
        </p:spPr>
        <p:txBody>
          <a:bodyPr anchor="t">
            <a:normAutofit/>
          </a:bodyPr>
          <a:lstStyle/>
          <a:p>
            <a:r>
              <a:rPr lang="en-SG" sz="4200"/>
              <a:t>Final Results with Hyperparameter Tuning</a:t>
            </a:r>
          </a:p>
        </p:txBody>
      </p:sp>
      <p:sp>
        <p:nvSpPr>
          <p:cNvPr id="3" name="Content Placeholder 2">
            <a:extLst>
              <a:ext uri="{FF2B5EF4-FFF2-40B4-BE49-F238E27FC236}">
                <a16:creationId xmlns:a16="http://schemas.microsoft.com/office/drawing/2014/main" id="{EB30E43A-E7CC-4376-1B9C-296465F85051}"/>
              </a:ext>
            </a:extLst>
          </p:cNvPr>
          <p:cNvSpPr>
            <a:spLocks noGrp="1"/>
          </p:cNvSpPr>
          <p:nvPr>
            <p:ph idx="1"/>
          </p:nvPr>
        </p:nvSpPr>
        <p:spPr>
          <a:xfrm>
            <a:off x="550863" y="2947121"/>
            <a:ext cx="4500562" cy="3361604"/>
          </a:xfrm>
        </p:spPr>
        <p:txBody>
          <a:bodyPr anchor="t">
            <a:normAutofit/>
          </a:bodyPr>
          <a:lstStyle/>
          <a:p>
            <a:pPr marL="0" indent="0">
              <a:buNone/>
            </a:pPr>
            <a:r>
              <a:rPr lang="en-SG" dirty="0"/>
              <a:t>From the results, we can see an small improvement in the results, the confusion matrix showing less false positives and false negatives</a:t>
            </a:r>
            <a:endParaRPr lang="en-US" i="0" dirty="0">
              <a:effectLst/>
            </a:endParaRPr>
          </a:p>
          <a:p>
            <a:pPr marL="0" indent="0">
              <a:buNone/>
            </a:pPr>
            <a:endParaRPr lang="en-SG" dirty="0"/>
          </a:p>
        </p:txBody>
      </p:sp>
      <p:pic>
        <p:nvPicPr>
          <p:cNvPr id="5" name="Picture 4" descr="A screenshot of a computer screen&#10;&#10;Description automatically generated">
            <a:extLst>
              <a:ext uri="{FF2B5EF4-FFF2-40B4-BE49-F238E27FC236}">
                <a16:creationId xmlns:a16="http://schemas.microsoft.com/office/drawing/2014/main" id="{DDB34288-B0FA-2B96-E663-266F90983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000" y="2173500"/>
            <a:ext cx="3600000" cy="2510999"/>
          </a:xfrm>
          <a:prstGeom prst="rect">
            <a:avLst/>
          </a:prstGeom>
        </p:spPr>
      </p:pic>
    </p:spTree>
    <p:extLst>
      <p:ext uri="{BB962C8B-B14F-4D97-AF65-F5344CB8AC3E}">
        <p14:creationId xmlns:p14="http://schemas.microsoft.com/office/powerpoint/2010/main" val="718235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C8B6A-CE8A-7724-B6C8-1C2C10BF8502}"/>
              </a:ext>
            </a:extLst>
          </p:cNvPr>
          <p:cNvSpPr>
            <a:spLocks noGrp="1"/>
          </p:cNvSpPr>
          <p:nvPr>
            <p:ph type="title"/>
          </p:nvPr>
        </p:nvSpPr>
        <p:spPr/>
        <p:txBody>
          <a:bodyPr/>
          <a:lstStyle/>
          <a:p>
            <a:r>
              <a:rPr lang="en-SG" dirty="0"/>
              <a:t>Conclusion</a:t>
            </a:r>
          </a:p>
        </p:txBody>
      </p:sp>
      <p:sp>
        <p:nvSpPr>
          <p:cNvPr id="3" name="Content Placeholder 2">
            <a:extLst>
              <a:ext uri="{FF2B5EF4-FFF2-40B4-BE49-F238E27FC236}">
                <a16:creationId xmlns:a16="http://schemas.microsoft.com/office/drawing/2014/main" id="{37B91921-4C03-FDF6-1CCC-379FE352A0C8}"/>
              </a:ext>
            </a:extLst>
          </p:cNvPr>
          <p:cNvSpPr>
            <a:spLocks noGrp="1"/>
          </p:cNvSpPr>
          <p:nvPr>
            <p:ph idx="1"/>
          </p:nvPr>
        </p:nvSpPr>
        <p:spPr/>
        <p:txBody>
          <a:bodyPr/>
          <a:lstStyle/>
          <a:p>
            <a:pPr marL="0" indent="0">
              <a:buNone/>
            </a:pPr>
            <a:r>
              <a:rPr lang="en-SG" dirty="0"/>
              <a:t>From making the machine, I have discovered how sometimes, accuracy is not always the best evaluation and might be misinformation, as shown by the Dummy Classifier. I also discovered that based on the features the model finds the most important, sometimes the other features are still relevant, just not for the model.</a:t>
            </a:r>
          </a:p>
          <a:p>
            <a:pPr marL="0" indent="0">
              <a:buNone/>
            </a:pPr>
            <a:endParaRPr lang="en-SG" dirty="0"/>
          </a:p>
          <a:p>
            <a:pPr marL="0" indent="0">
              <a:buNone/>
            </a:pPr>
            <a:r>
              <a:rPr lang="en-SG" dirty="0"/>
              <a:t>Overall, the Random Forest model gave a very good result</a:t>
            </a:r>
          </a:p>
        </p:txBody>
      </p:sp>
    </p:spTree>
    <p:extLst>
      <p:ext uri="{BB962C8B-B14F-4D97-AF65-F5344CB8AC3E}">
        <p14:creationId xmlns:p14="http://schemas.microsoft.com/office/powerpoint/2010/main" val="4230627920"/>
      </p:ext>
    </p:extLst>
  </p:cSld>
  <p:clrMapOvr>
    <a:masterClrMapping/>
  </p:clrMapOvr>
</p:sld>
</file>

<file path=ppt/theme/theme1.xml><?xml version="1.0" encoding="utf-8"?>
<a:theme xmlns:a="http://schemas.openxmlformats.org/drawingml/2006/main" name="GlowVTI">
  <a:themeElements>
    <a:clrScheme name="AnalogousFromRegularSeedLeftStep">
      <a:dk1>
        <a:srgbClr val="000000"/>
      </a:dk1>
      <a:lt1>
        <a:srgbClr val="FFFFFF"/>
      </a:lt1>
      <a:dk2>
        <a:srgbClr val="1B2431"/>
      </a:dk2>
      <a:lt2>
        <a:srgbClr val="F3F3F0"/>
      </a:lt2>
      <a:accent1>
        <a:srgbClr val="5429E7"/>
      </a:accent1>
      <a:accent2>
        <a:srgbClr val="1B3ED6"/>
      </a:accent2>
      <a:accent3>
        <a:srgbClr val="299CE7"/>
      </a:accent3>
      <a:accent4>
        <a:srgbClr val="15C0BC"/>
      </a:accent4>
      <a:accent5>
        <a:srgbClr val="23C57E"/>
      </a:accent5>
      <a:accent6>
        <a:srgbClr val="16C72F"/>
      </a:accent6>
      <a:hlink>
        <a:srgbClr val="7F9531"/>
      </a:hlink>
      <a:folHlink>
        <a:srgbClr val="7F7F7F"/>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645</TotalTime>
  <Words>646</Words>
  <Application>Microsoft Office PowerPoint</Application>
  <PresentationFormat>Widescreen</PresentationFormat>
  <Paragraphs>37</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Avenir Next LT Pro</vt:lpstr>
      <vt:lpstr>Bell MT</vt:lpstr>
      <vt:lpstr>GlowVTI</vt:lpstr>
      <vt:lpstr>AIML CA1</vt:lpstr>
      <vt:lpstr>Data Exploration</vt:lpstr>
      <vt:lpstr>Data Exploration</vt:lpstr>
      <vt:lpstr>Data Exploration</vt:lpstr>
      <vt:lpstr>Data Visualisation</vt:lpstr>
      <vt:lpstr>Data Cleaning (Imputation)</vt:lpstr>
      <vt:lpstr>Data Preprocessing</vt:lpstr>
      <vt:lpstr>Data Preprocessing</vt:lpstr>
      <vt:lpstr>Model Training and Evaluation</vt:lpstr>
      <vt:lpstr>Model Training and Evaluation</vt:lpstr>
      <vt:lpstr>Cross Validation</vt:lpstr>
      <vt:lpstr>Overfitting Check</vt:lpstr>
      <vt:lpstr>Hyperparameter Tuning</vt:lpstr>
      <vt:lpstr>Final Results with Hyperparameter Tuning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OOI HONG LUE IVAN</dc:creator>
  <cp:lastModifiedBy>OOI HONG LUE IVAN</cp:lastModifiedBy>
  <cp:revision>2</cp:revision>
  <dcterms:created xsi:type="dcterms:W3CDTF">2024-11-24T04:45:50Z</dcterms:created>
  <dcterms:modified xsi:type="dcterms:W3CDTF">2024-11-25T08:31:21Z</dcterms:modified>
</cp:coreProperties>
</file>